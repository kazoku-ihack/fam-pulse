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Kazoku Pulse — High-Level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i="1">
                <a:solidFill>
                  <a:srgbClr val="B8C0CC"/>
                </a:solidFill>
                <a:latin typeface="Arial"/>
              </a:rPr>
              <a:t>Wearable → Elder &amp; Caregiver apps → Backend hub → AI, Dispatch, Care, Insurance &amp; On-chain Payout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1554480" cy="868680"/>
          </a:xfrm>
          <a:prstGeom prst="roundRect">
            <a:avLst>
              <a:gd name="adj" fmla="val 8000"/>
            </a:avLst>
          </a:prstGeom>
          <a:solidFill>
            <a:srgbClr val="4A6FA5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Apple Watch</a:t>
            </a:r>
          </a:p>
          <a:p>
            <a:pPr algn="ctr"/>
            <a:r>
              <a:rPr sz="1000" b="0" i="1">
                <a:solidFill>
                  <a:srgbClr val="F0F0F0"/>
                </a:solidFill>
                <a:latin typeface="Arial"/>
              </a:rPr>
              <a:t>HealthKit sensors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05156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4A6FA5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iOS Parent App</a:t>
            </a:r>
          </a:p>
          <a:p>
            <a:pPr algn="ctr"/>
            <a:r>
              <a:rPr sz="1000" b="0" i="1">
                <a:solidFill>
                  <a:srgbClr val="F0F0F0"/>
                </a:solidFill>
                <a:latin typeface="Arial"/>
              </a:rPr>
              <a:t>Elder — monitoring &amp; SOS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05156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5B7FB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Mendix Child App</a:t>
            </a:r>
          </a:p>
          <a:p>
            <a:pPr algn="ctr"/>
            <a:r>
              <a:rPr sz="1000" b="0" i="1">
                <a:solidFill>
                  <a:srgbClr val="F0F0F0"/>
                </a:solidFill>
                <a:latin typeface="Arial"/>
              </a:rPr>
              <a:t>Caregiver — approvals &amp;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69880" y="1051560"/>
            <a:ext cx="1371600" cy="868680"/>
          </a:xfrm>
          <a:prstGeom prst="roundRect">
            <a:avLst>
              <a:gd name="adj" fmla="val 8000"/>
            </a:avLst>
          </a:prstGeom>
          <a:solidFill>
            <a:srgbClr val="5B7FB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Judge Console</a:t>
            </a:r>
          </a:p>
          <a:p>
            <a:pPr algn="ctr"/>
            <a:r>
              <a:rPr sz="900" b="0" i="1">
                <a:solidFill>
                  <a:srgbClr val="F0F0F0"/>
                </a:solidFill>
                <a:latin typeface="Arial"/>
              </a:rPr>
              <a:t>Demo control panel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1485900"/>
            <a:ext cx="182880" cy="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2606040"/>
            <a:ext cx="5029200" cy="960120"/>
          </a:xfrm>
          <a:prstGeom prst="roundRect">
            <a:avLst>
              <a:gd name="adj" fmla="val 8000"/>
            </a:avLst>
          </a:prstGeom>
          <a:solidFill>
            <a:srgbClr val="7C5CB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Kazoku Pulse Backend</a:t>
            </a:r>
          </a:p>
          <a:p>
            <a:pPr algn="ctr"/>
            <a:r>
              <a:rPr sz="1100" b="0" i="1">
                <a:solidFill>
                  <a:srgbClr val="F0F0F0"/>
                </a:solidFill>
                <a:latin typeface="Arial"/>
              </a:rPr>
              <a:t>Node.js / Express API  +  SQLite (system of record)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1920239"/>
            <a:ext cx="1508760" cy="685801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863840" y="1920239"/>
            <a:ext cx="1234440" cy="685801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" y="4160520"/>
            <a:ext cx="2145182" cy="1051560"/>
          </a:xfrm>
          <a:prstGeom prst="roundRect">
            <a:avLst>
              <a:gd name="adj" fmla="val 8000"/>
            </a:avLst>
          </a:prstGeom>
          <a:solidFill>
            <a:srgbClr val="D97757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Claude (Anthropic)</a:t>
            </a:r>
          </a:p>
          <a:p>
            <a:pPr algn="ctr"/>
            <a:r>
              <a:rPr sz="900" b="0" i="1">
                <a:solidFill>
                  <a:srgbClr val="F0F0F0"/>
                </a:solidFill>
                <a:latin typeface="Arial"/>
              </a:rPr>
              <a:t>Wandering triage &amp; FRS review — shapes alerts, never gates payouts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3822" y="4160520"/>
            <a:ext cx="2145182" cy="1051560"/>
          </a:xfrm>
          <a:prstGeom prst="roundRect">
            <a:avLst>
              <a:gd name="adj" fmla="val 8000"/>
            </a:avLst>
          </a:prstGeom>
          <a:solidFill>
            <a:srgbClr val="B95C8A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Uber</a:t>
            </a:r>
          </a:p>
          <a:p>
            <a:pPr algn="ctr"/>
            <a:r>
              <a:rPr sz="900" b="0" i="1">
                <a:solidFill>
                  <a:srgbClr val="F0F0F0"/>
                </a:solidFill>
                <a:latin typeface="Arial"/>
              </a:rPr>
              <a:t>Simulated taxi dispatch for wandering incidents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1884" y="4160520"/>
            <a:ext cx="2145182" cy="1051560"/>
          </a:xfrm>
          <a:prstGeom prst="roundRect">
            <a:avLst>
              <a:gd name="adj" fmla="val 8000"/>
            </a:avLst>
          </a:prstGeom>
          <a:solidFill>
            <a:srgbClr val="B95C8A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Caretaker Network</a:t>
            </a:r>
          </a:p>
          <a:p>
            <a:pPr algn="ctr"/>
            <a:r>
              <a:rPr sz="900" b="0" i="1">
                <a:solidFill>
                  <a:srgbClr val="F0F0F0"/>
                </a:solidFill>
                <a:latin typeface="Arial"/>
              </a:rPr>
              <a:t>Email care-request send / reply parsing (SMTP/IMAP)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9947" y="4160520"/>
            <a:ext cx="2145182" cy="1051560"/>
          </a:xfrm>
          <a:prstGeom prst="roundRect">
            <a:avLst>
              <a:gd name="adj" fmla="val 8000"/>
            </a:avLst>
          </a:prstGeom>
          <a:solidFill>
            <a:srgbClr val="3B82A6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Protosure</a:t>
            </a:r>
          </a:p>
          <a:p>
            <a:pPr algn="ctr"/>
            <a:r>
              <a:rPr sz="900" b="0" i="1">
                <a:solidFill>
                  <a:srgbClr val="F0F0F0"/>
                </a:solidFill>
                <a:latin typeface="Arial"/>
              </a:rPr>
              <a:t>Policy activation &amp; attestation signing (rater)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78009" y="4160520"/>
            <a:ext cx="2145182" cy="1051560"/>
          </a:xfrm>
          <a:prstGeom prst="roundRect">
            <a:avLst>
              <a:gd name="adj" fmla="val 8000"/>
            </a:avLst>
          </a:prstGeom>
          <a:solidFill>
            <a:srgbClr val="3F7D3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Avalanche Fuji Chain</a:t>
            </a:r>
          </a:p>
          <a:p>
            <a:pPr algn="ctr"/>
            <a:r>
              <a:rPr sz="900" b="0" i="1">
                <a:solidFill>
                  <a:srgbClr val="F0F0F0"/>
                </a:solidFill>
                <a:latin typeface="Arial"/>
              </a:rPr>
              <a:t>MimamorParametric + JPYC — on-chain payout execution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38351" y="3566160"/>
            <a:ext cx="0" cy="59436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66413" y="3566160"/>
            <a:ext cx="0" cy="59436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4476" y="3566160"/>
            <a:ext cx="0" cy="59436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22538" y="3566160"/>
            <a:ext cx="0" cy="59436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750600" y="3566160"/>
            <a:ext cx="0" cy="594360"/>
          </a:xfrm>
          <a:prstGeom prst="line">
            <a:avLst/>
          </a:prstGeom>
          <a:ln w="19050">
            <a:solidFill>
              <a:srgbClr val="9AA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78009" y="5623560"/>
            <a:ext cx="2145182" cy="777240"/>
          </a:xfrm>
          <a:prstGeom prst="roundRect">
            <a:avLst>
              <a:gd name="adj" fmla="val 8000"/>
            </a:avLst>
          </a:prstGeom>
          <a:solidFill>
            <a:srgbClr val="2E9E6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Insured's Wallet</a:t>
            </a:r>
          </a:p>
          <a:p>
            <a:pPr algn="ctr"/>
            <a:r>
              <a:rPr sz="950" b="0" i="1">
                <a:solidFill>
                  <a:srgbClr val="F0F0F0"/>
                </a:solidFill>
                <a:latin typeface="Arial"/>
              </a:rPr>
              <a:t>JPYC payout released on parametric trigger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750600" y="5212079"/>
            <a:ext cx="0" cy="411481"/>
          </a:xfrm>
          <a:prstGeom prst="line">
            <a:avLst/>
          </a:prstGeom>
          <a:ln w="25400">
            <a:solidFill>
              <a:srgbClr val="B9E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